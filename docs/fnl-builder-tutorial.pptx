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fnl-builder Web UI 操作手順書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CCCCFF"/>
                </a:solidFill>
              </a:defRPr>
            </a:pPr>
            <a:r>
              <a:t>現場担当者向け 操作レクチャー資料</a:t>
            </a:r>
            <a:br/>
            <a:r>
              <a:t>作成日: 2026-03-03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563EB"/>
                </a:solidFill>
              </a:defRPr>
            </a:pPr>
            <a:r>
              <a:t>事前準備 ─ 用意するファイル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78992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424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A1A2E"/>
                </a:solidFill>
              </a:defRPr>
            </a:pPr>
            <a:r>
              <a:t>操作を開始する前に、以下の3種類のファイルを手元に用意してください。</a:t>
            </a:r>
          </a:p>
          <a:p>
            <a:pPr>
              <a:spcAft>
                <a:spcPts val="400"/>
              </a:spcAft>
              <a:defRPr sz="8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2563EB"/>
                </a:solidFill>
              </a:defRPr>
            </a:pPr>
            <a:r>
              <a:t>1. RoomingList（PDF）</a:t>
            </a:r>
          </a:p>
          <a:p>
            <a:pPr>
              <a:spcAft>
                <a:spcPts val="400"/>
              </a:spcAft>
              <a:defRPr sz="1400" b="0">
                <a:solidFill>
                  <a:srgbClr val="6B7280"/>
                </a:solidFill>
              </a:defRPr>
            </a:pPr>
            <a:r>
              <a:t>   部屋割り表（ルームタイプ、ゲスト名、問い合わせ番号等）</a:t>
            </a:r>
          </a:p>
          <a:p>
            <a:pPr>
              <a:spcAft>
                <a:spcPts val="400"/>
              </a:spcAft>
              <a:defRPr sz="1400" b="0">
                <a:solidFill>
                  <a:srgbClr val="7C3AED"/>
                </a:solidFill>
              </a:defRPr>
            </a:pPr>
            <a:r>
              <a:t>   例: 1027_E417_ROOMINGLIST.pdf</a:t>
            </a:r>
          </a:p>
          <a:p>
            <a:pPr>
              <a:spcAft>
                <a:spcPts val="400"/>
              </a:spcAft>
              <a:defRPr sz="8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2563EB"/>
                </a:solidFill>
              </a:defRPr>
            </a:pPr>
            <a:r>
              <a:t>2. PassengerList（PDF）</a:t>
            </a:r>
          </a:p>
          <a:p>
            <a:pPr>
              <a:spcAft>
                <a:spcPts val="400"/>
              </a:spcAft>
              <a:defRPr sz="1400" b="0">
                <a:solidFill>
                  <a:srgbClr val="6B7280"/>
                </a:solidFill>
              </a:defRPr>
            </a:pPr>
            <a:r>
              <a:t>   乗客名簿（氏名、パスポート情報等）</a:t>
            </a:r>
          </a:p>
          <a:p>
            <a:pPr>
              <a:spcAft>
                <a:spcPts val="400"/>
              </a:spcAft>
              <a:defRPr sz="1400" b="0">
                <a:solidFill>
                  <a:srgbClr val="7C3AED"/>
                </a:solidFill>
              </a:defRPr>
            </a:pPr>
            <a:r>
              <a:t>   例: 1027_E417_PASSENGERLIST.pdf</a:t>
            </a:r>
          </a:p>
          <a:p>
            <a:pPr>
              <a:spcAft>
                <a:spcPts val="400"/>
              </a:spcAft>
              <a:defRPr sz="8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2563EB"/>
                </a:solidFill>
              </a:defRPr>
            </a:pPr>
            <a:r>
              <a:t>3. MessageList（PDF または CSV）</a:t>
            </a:r>
          </a:p>
          <a:p>
            <a:pPr>
              <a:spcAft>
                <a:spcPts val="400"/>
              </a:spcAft>
              <a:defRPr sz="1400" b="0">
                <a:solidFill>
                  <a:srgbClr val="6B7280"/>
                </a:solidFill>
              </a:defRPr>
            </a:pPr>
            <a:r>
              <a:t>   メッセージリスト（特記事項の原文）</a:t>
            </a:r>
          </a:p>
          <a:p>
            <a:pPr>
              <a:spcAft>
                <a:spcPts val="400"/>
              </a:spcAft>
              <a:defRPr sz="1400" b="0">
                <a:solidFill>
                  <a:srgbClr val="7C3AED"/>
                </a:solidFill>
              </a:defRPr>
            </a:pPr>
            <a:r>
              <a:t>   例: 1027_E417_MessageList(CSV).csv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563EB"/>
                </a:solidFill>
              </a:defRPr>
            </a:pPr>
            <a:r>
              <a:t>操作の全体フロー（6ステップ）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0" y="1280160"/>
            <a:ext cx="7315200" cy="8229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Step 1: Web UIを開く</a:t>
            </a:r>
          </a:p>
          <a:p>
            <a:pPr algn="ctr">
              <a:defRPr sz="1100">
                <a:solidFill>
                  <a:srgbClr val="E0E0E0"/>
                </a:solidFill>
              </a:defRPr>
            </a:pPr>
            <a:r>
              <a:t>ブラウザでlocalhostにアクセス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21031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B7280"/>
                </a:solidFill>
              </a:defRPr>
            </a:pPr>
            <a:r>
              <a:t>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2697480"/>
            <a:ext cx="7315200" cy="82296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Step 2-4: 3種類のファイルをアップロード</a:t>
            </a:r>
          </a:p>
          <a:p>
            <a:pPr algn="ctr">
              <a:defRPr sz="1100">
                <a:solidFill>
                  <a:srgbClr val="E0E0E0"/>
                </a:solidFill>
              </a:defRPr>
            </a:pPr>
            <a:r>
              <a:t>RoomingList → PassengerList → MessageList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35204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B7280"/>
                </a:solidFill>
              </a:defRPr>
            </a:pPr>
            <a:r>
              <a:t>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4114800"/>
            <a:ext cx="7315200" cy="82296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Step 5: LLM Providerを確認</a:t>
            </a:r>
          </a:p>
          <a:p>
            <a:pPr algn="ctr">
              <a:defRPr sz="1100">
                <a:solidFill>
                  <a:srgbClr val="E0E0E0"/>
                </a:solidFill>
              </a:defRPr>
            </a:pPr>
            <a:r>
              <a:t>通常は openai のまま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49377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B7280"/>
                </a:solidFill>
              </a:defRPr>
            </a:pPr>
            <a:r>
              <a:t>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5532120"/>
            <a:ext cx="7315200" cy="82296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Step 6: 「実行」ボタンを押す</a:t>
            </a:r>
          </a:p>
          <a:p>
            <a:pPr algn="ctr">
              <a:defRPr sz="1100">
                <a:solidFill>
                  <a:srgbClr val="E0E0E0"/>
                </a:solidFill>
              </a:defRPr>
            </a:pPr>
            <a:r>
              <a:t>parse → integrate → render の3段階処理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635508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B7280"/>
                </a:solidFill>
              </a:defRPr>
            </a:pPr>
            <a: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6949440"/>
            <a:ext cx="7315200" cy="82296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Step 7-8: 結果テーブル＆警告を確認</a:t>
            </a:r>
          </a:p>
          <a:p>
            <a:pPr algn="ctr">
              <a:defRPr sz="1100">
                <a:solidFill>
                  <a:srgbClr val="E0E0E0"/>
                </a:solidFill>
              </a:defRPr>
            </a:pPr>
            <a:r>
              <a:t>名簿テーブルとバリデーション警告を目視チェック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777240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B7280"/>
                </a:solidFill>
              </a:defRPr>
            </a:pPr>
            <a:r>
              <a:t>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8366760"/>
            <a:ext cx="7315200" cy="8229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Step 9: Excel をダウンロード</a:t>
            </a:r>
          </a:p>
          <a:p>
            <a:pPr algn="ctr">
              <a:defRPr sz="1100">
                <a:solidFill>
                  <a:srgbClr val="E0E0E0"/>
                </a:solidFill>
              </a:defRPr>
            </a:pPr>
            <a:r>
              <a:t>final_list-*.xlsx が自動ダウンロード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563EB"/>
                </a:solidFill>
              </a:defRPr>
            </a:pPr>
            <a:r>
              <a:t>手順 1: Web UIを開く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78992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424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A1A2E"/>
                </a:solidFill>
              </a:defRPr>
            </a:pPr>
            <a:r>
              <a:t>ブラウザのアドレスバーに localhost の URL を入力してアクセスします。</a:t>
            </a:r>
          </a:p>
          <a:p>
            <a:pPr>
              <a:spcAft>
                <a:spcPts val="400"/>
              </a:spcAft>
              <a:defRPr sz="8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1A1A2E"/>
                </a:solidFill>
              </a:defRPr>
            </a:pPr>
            <a:r>
              <a:t>左側のサイドバーに以下の4つの入力エリアがあることを確認:</a:t>
            </a:r>
          </a:p>
          <a:p>
            <a:pPr>
              <a:spcAft>
                <a:spcPts val="400"/>
              </a:spcAft>
              <a:defRPr sz="8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  RoomingList PDF ─ ルーミングリスト用のアップロードエリア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  PassengerList PDF ─ パッセンジャーリスト用のアップロードエリア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  MessageList PDF/CSV ─ メッセージリスト用のアップロードエリア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  LLM Provider ─ LLMプロバイダーの選択ドロップダウン</a:t>
            </a:r>
          </a:p>
          <a:p>
            <a:pPr>
              <a:spcAft>
                <a:spcPts val="400"/>
              </a:spcAft>
              <a:defRPr sz="8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DC2626"/>
                </a:solidFill>
              </a:defRPr>
            </a:pPr>
            <a:r>
              <a:t>一番下に赤い「実行」ボタンがあります。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563EB"/>
                </a:solidFill>
              </a:defRPr>
            </a:pPr>
            <a:r>
              <a:t>手順 2-4: ファイルをアップロード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78992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424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A1A2E"/>
                </a:solidFill>
              </a:defRPr>
            </a:pPr>
            <a:r>
              <a:t>各エリアの「Browse files」ボタンをクリックし、ファイルを選択します。</a:t>
            </a:r>
          </a:p>
          <a:p>
            <a:pPr>
              <a:spcAft>
                <a:spcPts val="400"/>
              </a:spcAft>
              <a:defRPr sz="8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2563EB"/>
                </a:solidFill>
              </a:defRPr>
            </a:pPr>
            <a:r>
              <a:t>手順 2: RoomingList PDF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   「RoomingList PDF」セクション → Browse files → PDF選択</a:t>
            </a:r>
          </a:p>
          <a:p>
            <a:pPr>
              <a:spcAft>
                <a:spcPts val="400"/>
              </a:spcAft>
              <a:defRPr sz="1400" b="0">
                <a:solidFill>
                  <a:srgbClr val="6B7280"/>
                </a:solidFill>
              </a:defRPr>
            </a:pPr>
            <a:r>
              <a:t>   アップロード完了: ファイル名とサイズが表示される</a:t>
            </a:r>
          </a:p>
          <a:p>
            <a:pPr>
              <a:spcAft>
                <a:spcPts val="400"/>
              </a:spcAft>
              <a:defRPr sz="8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2563EB"/>
                </a:solidFill>
              </a:defRPr>
            </a:pPr>
            <a:r>
              <a:t>手順 3: PassengerList PDF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   「PassengerList PDF」セクション → Browse files → PDF選択</a:t>
            </a:r>
          </a:p>
          <a:p>
            <a:pPr>
              <a:spcAft>
                <a:spcPts val="400"/>
              </a:spcAft>
              <a:defRPr sz="8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2563EB"/>
                </a:solidFill>
              </a:defRPr>
            </a:pPr>
            <a:r>
              <a:t>手順 4: MessageList PDF/CSV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   「MessageList PDF/CSV」セクション → Browse files → ファイル選択</a:t>
            </a:r>
          </a:p>
          <a:p>
            <a:pPr>
              <a:spcAft>
                <a:spcPts val="400"/>
              </a:spcAft>
              <a:defRPr sz="8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EA580C"/>
                </a:solidFill>
              </a:defRPr>
            </a:pPr>
            <a:r>
              <a:t>【注意】3種類すべてのファイルをアップロードしてから「実行」を押してください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563EB"/>
                </a:solidFill>
              </a:defRPr>
            </a:pPr>
            <a:r>
              <a:t>手順 5-6: 確認して「実行」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78992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424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2563EB"/>
                </a:solidFill>
              </a:defRPr>
            </a:pPr>
            <a:r>
              <a:t>手順 5: LLM Provider を確認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   サイドバー最下部のドロップダウンを確認</a:t>
            </a:r>
          </a:p>
          <a:p>
            <a:pPr>
              <a:spcAft>
                <a:spcPts val="400"/>
              </a:spcAft>
              <a:defRPr sz="1500" b="0">
                <a:solidFill>
                  <a:srgbClr val="6B7280"/>
                </a:solidFill>
              </a:defRPr>
            </a:pPr>
            <a:r>
              <a:t>   通常は openai が選択されています。変更不要。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DC2626"/>
                </a:solidFill>
              </a:defRPr>
            </a:pPr>
            <a:r>
              <a:t>手順 6: 赤い「実行」ボタンをクリック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   処理開始後、以下の3工程が順に実行されます:</a:t>
            </a:r>
          </a:p>
          <a:p>
            <a:pPr>
              <a:spcAft>
                <a:spcPts val="400"/>
              </a:spcAft>
              <a:defRPr sz="6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   1. parse_stage: PDF/CSVの解析、テキスト抽出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   2. integrate_stage: LLM による特記事項の構造化抽出 + ルールベース統合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   3. render_stage: 最終名簿の生成、Excel出力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EA580C"/>
                </a:solidFill>
              </a:defRPr>
            </a:pPr>
            <a:r>
              <a:t>【注意】処理中はブラウザのタブを閉じたり、ページを更新しないでください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563EB"/>
                </a:solidFill>
              </a:defRPr>
            </a:pPr>
            <a:r>
              <a:t>手順 7-8: 結果確認＆バリデーション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78992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424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2563EB"/>
                </a:solidFill>
              </a:defRPr>
            </a:pPr>
            <a:r>
              <a:t>手順 7: 結果テーブルを確認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   メイン画面にツアー情報と名簿テーブルが表示されます</a:t>
            </a:r>
          </a:p>
          <a:p>
            <a:pPr>
              <a:spcAft>
                <a:spcPts val="400"/>
              </a:spcAft>
              <a:defRPr sz="1400" b="0">
                <a:solidFill>
                  <a:srgbClr val="6B7280"/>
                </a:solidFill>
              </a:defRPr>
            </a:pPr>
            <a:r>
              <a:t>   表示カラム: room_type / number / inquiry / family_name / given_name / remarks</a:t>
            </a:r>
          </a:p>
          <a:p>
            <a:pPr>
              <a:spcAft>
                <a:spcPts val="400"/>
              </a:spcAft>
              <a:defRPr sz="1400" b="0">
                <a:solidFill>
                  <a:srgbClr val="6B7280"/>
                </a:solidFill>
              </a:defRPr>
            </a:pPr>
            <a:r>
              <a:t>   remarks カラムが最終Excel に反映される特記事項です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EA580C"/>
                </a:solidFill>
              </a:defRPr>
            </a:pPr>
            <a:r>
              <a:t>手順 8: バリデーション警告を確認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   テーブル下部に黄色/オレンジの警告が表示される場合があります:</a:t>
            </a:r>
          </a:p>
          <a:p>
            <a:pPr>
              <a:spcAft>
                <a:spcPts val="400"/>
              </a:spcAft>
              <a:defRPr sz="6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1A1A2E"/>
                </a:solidFill>
              </a:defRPr>
            </a:pPr>
            <a:r>
              <a:t>   [missing_guest_data] → パスポート情報が未入力のゲストがいる</a:t>
            </a:r>
          </a:p>
          <a:p>
            <a:pPr>
              <a:spcAft>
                <a:spcPts val="400"/>
              </a:spcAft>
              <a:defRPr sz="1400" b="0">
                <a:solidFill>
                  <a:srgbClr val="1A1A2E"/>
                </a:solidFill>
              </a:defRPr>
            </a:pPr>
            <a:r>
              <a:t>   [rooms_mismatch_total] → 部屋数合計が申告数と不一致</a:t>
            </a:r>
          </a:p>
          <a:p>
            <a:pPr>
              <a:spcAft>
                <a:spcPts val="400"/>
              </a:spcAft>
              <a:defRPr sz="1400" b="0">
                <a:solidFill>
                  <a:srgbClr val="1A1A2E"/>
                </a:solidFill>
              </a:defRPr>
            </a:pPr>
            <a:r>
              <a:t>   [rooms_mismatch_by_type] → 部屋タイプ別の数が不一致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DC2626"/>
                </a:solidFill>
              </a:defRPr>
            </a:pPr>
            <a:r>
              <a:t>警告が出ても処理は完了。出力Excelは生成されます。内容を必ず目視チェック。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563EB"/>
                </a:solidFill>
              </a:defRPr>
            </a:pPr>
            <a:r>
              <a:t>手順 9: Excel ファイルをダウンロード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78992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424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A1A2E"/>
                </a:solidFill>
              </a:defRPr>
            </a:pPr>
            <a:r>
              <a:t>処理完了後、ブラウザのダウンロード通知が表示されます。</a:t>
            </a:r>
          </a:p>
          <a:p>
            <a:pPr>
              <a:spcAft>
                <a:spcPts val="400"/>
              </a:spcAft>
              <a:defRPr sz="8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2563EB"/>
                </a:solidFill>
              </a:defRPr>
            </a:pPr>
            <a:r>
              <a:t>ダウンロードされるファイル:</a:t>
            </a:r>
          </a:p>
          <a:p>
            <a:pPr>
              <a:spcAft>
                <a:spcPts val="400"/>
              </a:spcAft>
              <a:defRPr sz="1600" b="0">
                <a:solidFill>
                  <a:srgbClr val="7C3AED"/>
                </a:solidFill>
              </a:defRPr>
            </a:pPr>
            <a:r>
              <a:t>   final_list-*.xlsx（最終名簿 Excel）</a:t>
            </a:r>
          </a:p>
          <a:p>
            <a:pPr>
              <a:spcAft>
                <a:spcPts val="400"/>
              </a:spcAft>
              <a:defRPr sz="1400" b="0">
                <a:solidFill>
                  <a:srgbClr val="6B7280"/>
                </a:solidFill>
              </a:defRPr>
            </a:pPr>
            <a:r>
              <a:t>   ※末尾の数字は連番（同セッション内で複数回実行した場合に増加）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2200" b="1">
                <a:solidFill>
                  <a:srgbClr val="16A34A"/>
                </a:solidFill>
              </a:defRPr>
            </a:pPr>
            <a:r>
              <a:t>以上で操作は完了です！</a:t>
            </a:r>
          </a:p>
          <a:p>
            <a:pPr>
              <a:spcAft>
                <a:spcPts val="400"/>
              </a:spcAft>
              <a:defRPr sz="1600" b="0">
                <a:solidFill>
                  <a:srgbClr val="1A1A2E"/>
                </a:solidFill>
              </a:defRPr>
            </a:pPr>
            <a:r>
              <a:t>ダウンロードされた Excel ファイルを開き、特記事項の内容を確認してください。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t>入力ファイルの命名規則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07899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種別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命名パターン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例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RoomingList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{受付番号}_{コース}_ROOMINGLIST.pdf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1027_E417_ROOMINGLIST.pdf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PassengerList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{受付番号}_{コース}_PASSENGERLIST.pdf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1027_E417_PASSENGERLIST.pdf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MessageList (CSV)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{受付番号}_{コース}_MessageList(CSV).csv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1027_E417_MessageList(CSV).csv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MessageList (PDF)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{受付番号}_{コース}_MessageList.pdf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1027_E417_MessageList.pdf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t>よくある問題と対処法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07899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症状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原因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対処法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「実行」後に何も表示されない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LLM API接続エラー/ファイル形式不一致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LLM Provider設定確認。F12でエラー確認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remarksが空欄のゲストが多い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MessageListに特記事項なし/who_id紐付け失敗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問い合わせ番号-枝番がRoomingListと一致か確認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[missing_guest_data]が大量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PassengerList PDF解析失敗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より鮮明なPDFを用意する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[rooms_mismatch]が出る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RoomingListの部屋数とPAX数の不整合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RoomingList原本の部屋数・タイプを確認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Excelがダウンロードされない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処理中エラー/ポップアップブロック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ダウンロード設定確認。再度「実行」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