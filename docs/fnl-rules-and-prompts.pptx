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fnl-builder 抽出ルール・プロンプト説明資料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FF"/>
                </a:solidFill>
              </a:defRPr>
            </a:pPr>
            <a:r>
              <a:t>現場担当者との合意形成のために</a:t>
            </a:r>
            <a:br/>
            <a:r>
              <a:t>生成日: 2026-03-03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A1A2E"/>
                </a:solidFill>
              </a:defRPr>
            </a:pPr>
            <a:r>
              <a:t>1. 全体像 ─ 抽出品質を担保する処理フロー</a:t>
            </a:r>
          </a:p>
          <a:p>
            <a:pPr>
              <a:spcAft>
                <a:spcPts val="400"/>
              </a:spcAft>
              <a:defRPr sz="1800" b="0">
                <a:solidFill>
                  <a:srgbClr val="1A1A2E"/>
                </a:solidFill>
              </a:defRPr>
            </a:pPr>
            <a:r>
              <a:t>2. LLM System Prompt の要約（必須ルール・禁則・優先順位）</a:t>
            </a:r>
          </a:p>
          <a:p>
            <a:pPr>
              <a:spcAft>
                <a:spcPts val="400"/>
              </a:spcAft>
              <a:defRPr sz="1800" b="0">
                <a:solidFill>
                  <a:srgbClr val="1A1A2E"/>
                </a:solidFill>
              </a:defRPr>
            </a:pPr>
            <a:r>
              <a:t>3. LLM Extract Prompt の要約（入力・schema要求・出力制約）</a:t>
            </a:r>
          </a:p>
          <a:p>
            <a:pPr>
              <a:spcAft>
                <a:spcPts val="400"/>
              </a:spcAft>
              <a:defRPr sz="1800" b="0">
                <a:solidFill>
                  <a:srgbClr val="1A1A2E"/>
                </a:solidFill>
              </a:defRPr>
            </a:pPr>
            <a:r>
              <a:t>4. taxonomy の要約（category/phase の一覧と選び方）</a:t>
            </a:r>
          </a:p>
          <a:p>
            <a:pPr>
              <a:spcAft>
                <a:spcPts val="400"/>
              </a:spcAft>
              <a:defRPr sz="1800" b="0">
                <a:solidFill>
                  <a:srgbClr val="1A1A2E"/>
                </a:solidFill>
              </a:defRPr>
            </a:pPr>
            <a:r>
              <a:t>5. コース別サプリメントの仕組み</a:t>
            </a:r>
          </a:p>
          <a:p>
            <a:pPr>
              <a:spcAft>
                <a:spcPts val="400"/>
              </a:spcAft>
              <a:defRPr sz="1800" b="0">
                <a:solidFill>
                  <a:srgbClr val="1A1A2E"/>
                </a:solidFill>
              </a:defRPr>
            </a:pPr>
            <a:r>
              <a:t>6. ルールベース候補抽出の要約</a:t>
            </a:r>
          </a:p>
          <a:p>
            <a:pPr>
              <a:spcAft>
                <a:spcPts val="400"/>
              </a:spcAft>
              <a:defRPr sz="1800" b="0">
                <a:solidFill>
                  <a:srgbClr val="1A1A2E"/>
                </a:solidFill>
              </a:defRPr>
            </a:pPr>
            <a:r>
              <a:t>7. banned フィルタの要約</a:t>
            </a:r>
          </a:p>
          <a:p>
            <a:pPr>
              <a:spcAft>
                <a:spcPts val="400"/>
              </a:spcAft>
              <a:defRPr sz="1800" b="0">
                <a:solidFill>
                  <a:srgbClr val="1A1A2E"/>
                </a:solidFill>
              </a:defRPr>
            </a:pPr>
            <a:r>
              <a:t>8. 現場確認ポイント（運用で決めるべき点）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 全体像 ─ 抽出品質を担保する処理フロー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3段階の品質担保パイプライン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280160"/>
            <a:ext cx="7315200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第1段階：ルールベース候補抽出（広い網）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正規表現キーワード群で「特記事項になりやすい行」を候補として拾い上げる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21031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697480"/>
            <a:ext cx="731520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第2段階：LLM による構造化抽出（精密な判定）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taxonomy に沿って category/phase/severity 等に分類し、JSON schema 準拠データを返す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520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114800"/>
            <a:ext cx="7315200" cy="8229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第3段階：統合・フィルタ・リライト（最終仕上げ）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banned パターンによる除外、社内メモ除去、LLM出力とルールベース出力の統合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 LLM System Prompt の要約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最重要ルール 14項目（前半）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ルール名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推測禁止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入力に書かれていない事実を作らない。不確実なら explicitness=unclear で表現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JSON出力のみ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返信は {"items":[...]} のみ。Markdown/説明文は禁止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スキーマ厳守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taxonomy の id のみ使用。ML items schema に準拠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Evidence完全一致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evidence.quote は入力本文からの完全一致コピー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caution条件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severity=caution なら caution_reason 必須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PII最小化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旅券番号、電話番号、メール等を who/details/summary に書かない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抽出判定の順番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「手配会社は誰に何をすればよいか」が明確でなければ抽出しない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最重要ルール 14項目（後半）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ルール名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禁則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金銭/保険/旅券/連絡先変更/座席希望/WT関連等を問答無用で除外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航空会社関連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機内食RQ/搭乗支援のみ採用。窓側/通路側は除外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正規化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SSR/WCHRコード禁止（平文で記述）。新婚旅行→ハネムーンに統一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推測抑制(同室)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同室相手が明示された場合のみ抽出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ランドオンリー正規化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L/O等→「ランドオンリー（航空券自己手配・現地合流）」に統一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イレギュラー伝達事項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定型外でも現地OPが行動すべき具体的指示は採用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振替予約・コース混在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別コースセクションは medical 系のみ採用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禁則の詳細範囲（ルール8）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System Prompt で定義される禁則一覧: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金銭/請求/入金/領収書/クレカ/残金案内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旅行保険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旅券（パスポート番号・発行/有効期限・取得予定等）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連絡先変更（住所/電話/メール/送付先変更）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航空機の座席希望/座席クラス希望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旅行手続書類の送付希望 / 各地発着申込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時間帯指定なし / 未確定・予定段階のリクエスト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マイページ単独通知 / WT（ウェイティング）関連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営業/社内担当者向けの進行メモ・連絡済み報告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対象者不明のアイテム（who_id を推測で埋めない）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強制抽出ルール &amp; 医療詳細ルール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6A34A"/>
                </a:solidFill>
              </a:defRPr>
            </a:pPr>
            <a:r>
              <a:t>■ 強制抽出ルール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アレルギー：否定を除き、必ず items 化（category: dietary, phase: meal_time）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クレーム/苦情：否定を除き、vip_sensitive として items 化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FNL指示文言：対外アクションが明示される場合のみ items 化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DC2626"/>
                </a:solidFill>
              </a:defRPr>
            </a:pPr>
            <a:r>
              <a:t>■ 医療関連の詳細要約ルール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病名・症状に加え、医療機器/治療器具/薬品/量/本数/サイズ/持込方法を具体記載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社内進行メモ（お伺い書待ち/HC登録済み等）は含めない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医療事実・数値・薬品名・機器スペックは省略禁止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240文字超の場合は同一人物でも items を分割する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3. LLM Extract Prompt の要約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Extract Prompt の入力構造と出力制約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■ 入力構造（テンプレートの2つのプレースホルダ）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{{TAXONOMY_YAML}} ─ taxonomy.yaml の全文（category/phase の正本）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{{PAGES_TEXT}} ─ PDF/CSVから抽出したページ別テキスト（1始まり）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■ 出力制約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JSON object のみを返す（説明文/Markdown禁止）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全ページを最後まで確認する（後半ページの見落とし禁止）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該当0件なら {"items": []} を返す。無理に作らない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handoff_text は運用向けの1文、SSR/WCHRコード禁止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出力 schema（各 item の必須キー）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789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キー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型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説明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taxonomy の categories.id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taxonomy の phases.id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人が即判断できる短文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explicitness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enum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explicit / implicit / unclear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0.0〜1.0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enum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error / warning / caution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{ page: 整数, quote: 完全一致抜粋 }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handoff_text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運用向けの1文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who_id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対象者の問い合わせ番号-枝番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4. taxonomy の要約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category 一覧（11カテゴリ）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ラベル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対象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medical_health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医療/健康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病気、怪我、持病、妊娠、服薬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dietary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食事制限/アレルギー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アレルギー、宗教/嗜好、ベジタリアン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mobility_accessibility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移動支援/バリアフリー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車椅子、杖、歩行補助、階段不可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accommodation_room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宿泊/部屋/ホテル要望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禁煙/喫煙、ベッドタイプ、階層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grouping_companion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同行/グルーピング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同行者、同室/別室希望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vip_sensitive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VIP/要配慮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VIP、クレームリスク、特別贈呈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schedule_change_separation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離団/日程変更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離団、途中参加、延泊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documents_immigration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書類/入出国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ビザ、ESTA、入国条件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communication_language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連絡/言語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通訳要望、緊急連絡先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baggage_equipment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手荷物/特殊装備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大型荷物、医療機器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その他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上記に当てはまらない特記事項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phase 一覧（11フェーズ）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ラベル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対象場面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pre_departure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出発前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事前準備、手続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departure_airport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出発空港/集合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空港集合、出国前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flight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機内/航空移動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搭乗中、座席配慮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arrival_airport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到着空港/入国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入国、到着導線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送迎/移動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バス、鉄道、車移動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on_tour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現地催行中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観光地、ガイド対応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hotel_stay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ホテル滞在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チェックイン、部屋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meal_time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食事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レストラン、食事制限対応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free_time_optional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自由行動/OP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オプション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return_trip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帰国/解散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復路、帰国時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不明/全般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フェーズ判断不可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5. コース別サプリメントの仕組み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コース番号の抽出とマージ手順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■ コース番号の抽出ロジック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コースコードからアルファベットプレフィックスを除去し数字列を抽出</a:t>
            </a:r>
          </a:p>
          <a:p>
            <a:pPr>
              <a:spcAft>
                <a:spcPts val="400"/>
              </a:spcAft>
              <a:defRPr sz="1500" b="0">
                <a:solidFill>
                  <a:srgbClr val="7C3AED"/>
                </a:solidFill>
              </a:defRPr>
            </a:pPr>
            <a:r>
              <a:t>E417 → 417  /  EH417 → 417  /  ET470 → 470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■ マージ手順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1. 入力のコースコード群から重複なしの数字列セットを作る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2. 各数字に対して courses/{number}.md を検索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3. 見つかったファイルを昇順に並べ、重複排除しながらマージ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4. 1つも見つからなかった場合は courses/_default.md にフォールバック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■ 現存するコースファイル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417.md : シェンゲン協定圏のビザ要件重点抽出、複数都市移動の離団・合流注意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_default.md : 「コース固有の追加指示はありません。共通ルールに従ってください。」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6. ルールベース候補抽出の要約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キーワード群の分類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代表的なキーワード・パターン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食事/アレルギー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アレルギー、ベジタリアン、ハラール、苦手…食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医療/病気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糖尿病、インシュリン、ペースメーカー、人工関節、透析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障害/移動支援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身障者、障害者、要介護、閉所恐怖、高所恐怖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歩行補助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車椅子、杖、松葉杖、歩行器、歩行…困難/制限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宿泊設備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エレベーター、ベッド…サイズ、ツイン/ダブル…希望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VIP/クレーム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VIP、重要顧客、クレーム、苦情、トラブル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離団/合流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離団、途中参加、途中離脱、途中合流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ランドオンリー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ランドオンリー、LAND ONLY、L/O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候補抽出の流れと目的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6A34A"/>
                </a:solidFill>
              </a:defRPr>
            </a:pPr>
            <a:r>
              <a:t>■ 候補抽出の4ステップ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1. 各行に30パターン以上のキーワードマッチ判定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2. マッチした行に banned フィルタを適用→該当すれば除外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3. PDF日本語スペーシング修復、不要プレフィックス除去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4. クリーニング後3文字超なら候補として返却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6A34A"/>
                </a:solidFill>
              </a:defRPr>
            </a:pPr>
            <a:r>
              <a:t>■ 目的と位置づけ</a:t>
            </a:r>
          </a:p>
          <a:p>
            <a:pPr>
              <a:spcAft>
                <a:spcPts val="400"/>
              </a:spcAft>
              <a:defRPr sz="1600" b="1">
                <a:solidFill>
                  <a:srgbClr val="1A1A2E"/>
                </a:solidFill>
              </a:defRPr>
            </a:pPr>
            <a:r>
              <a:t>「取りこぼしを減らす」ための広い網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精度よりも再現率を優先する設計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誤検出（偽陽性）は後段の LLM 構造化抽出で除外される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7. banned フィルタの要約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banned フィルタ：パイプライン側 vs System Prompt 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DC2626"/>
                </a:solidFill>
              </a:defRPr>
            </a:pPr>
            <a:r>
              <a:t>パイプライン側 banned（3パターン）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請求/入金/領収書/残金/クレジット/支払/料金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旅行保険/保険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社内進行/社内手配/社内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→ 最低限の早期除外に留めている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A580C"/>
                </a:solidFill>
              </a:defRPr>
            </a:pPr>
            <a:r>
              <a:t>System Prompt のみに存在する禁則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旅券（パスポート番号等）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連絡先変更（住所/電話/メール等）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航空機の座席希望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旅行手続書類の送付希望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各地発着申込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未確定・予定段階のリクエスト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マイページ単独通知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WT関連 / 営業進行メモ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8. 現場確認ポイント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運用で決めるべき7つの論点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563EB"/>
                </a:solidFill>
              </a:defRPr>
            </a:pPr>
            <a:r>
              <a:t>8-1. 禁則の範囲をどこに寄せるか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→ パイプライン側を拡張するか、LLM判断に委ねるか</a:t>
            </a:r>
          </a:p>
          <a:p>
            <a:pPr>
              <a:spcAft>
                <a:spcPts val="400"/>
              </a:spcAft>
              <a:defRPr sz="1700" b="1">
                <a:solidFill>
                  <a:srgbClr val="2563EB"/>
                </a:solidFill>
              </a:defRPr>
            </a:pPr>
            <a:r>
              <a:t>8-2. RQ/HK の採用基準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→ OP のHK（予約確定済み）でも現地に伝達すべきケースがないか</a:t>
            </a:r>
          </a:p>
          <a:p>
            <a:pPr>
              <a:spcAft>
                <a:spcPts val="400"/>
              </a:spcAft>
              <a:defRPr sz="1700" b="1">
                <a:solidFill>
                  <a:srgbClr val="2563EB"/>
                </a:solidFill>
              </a:defRPr>
            </a:pPr>
            <a:r>
              <a:t>8-3. 別コース混在時の medical 限定採用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→ VIP/センシティブ情報も引き継ぐべきか</a:t>
            </a:r>
          </a:p>
          <a:p>
            <a:pPr>
              <a:spcAft>
                <a:spcPts val="400"/>
              </a:spcAft>
              <a:defRPr sz="1700" b="1">
                <a:solidFill>
                  <a:srgbClr val="2563EB"/>
                </a:solidFill>
              </a:defRPr>
            </a:pPr>
            <a:r>
              <a:t>8-4. evidence.quote 完全一致の厳密度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→ PDF崩れで正当な項目が不採用になるリスク</a:t>
            </a:r>
          </a:p>
          <a:p>
            <a:pPr>
              <a:spcAft>
                <a:spcPts val="400"/>
              </a:spcAft>
              <a:defRPr sz="1700" b="1">
                <a:solidFill>
                  <a:srgbClr val="2563EB"/>
                </a:solidFill>
              </a:defRPr>
            </a:pPr>
            <a:r>
              <a:t>8-5. 社内メモ除去の範囲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→ 新たなメモ表現の追加手順を定めておくべき</a:t>
            </a:r>
          </a:p>
          <a:p>
            <a:pPr>
              <a:spcAft>
                <a:spcPts val="400"/>
              </a:spcAft>
              <a:defRPr sz="1700" b="1">
                <a:solidFill>
                  <a:srgbClr val="2563EB"/>
                </a:solidFill>
              </a:defRPr>
            </a:pPr>
            <a:r>
              <a:t>8-6. 医療系の信頼度閾値（現状: 0.80）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→ 閾値を下げると採用増だがノイズも増える</a:t>
            </a:r>
          </a:p>
          <a:p>
            <a:pPr>
              <a:spcAft>
                <a:spcPts val="400"/>
              </a:spcAft>
              <a:defRPr sz="1700" b="1">
                <a:solidFill>
                  <a:srgbClr val="2563EB"/>
                </a:solidFill>
              </a:defRPr>
            </a:pPr>
            <a:r>
              <a:t>8-7. FNL指示文言の対外アクション判定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→ 判定基準が LLM 解釈に依存する点の対策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