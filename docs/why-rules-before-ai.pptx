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なぜ「ルール＋AI」の2段構成が有効なのか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FF"/>
                </a:solidFill>
              </a:defRPr>
            </a:pPr>
            <a:r>
              <a:t>PDF・CSVからの情報抽出において</a:t>
            </a:r>
            <a:br/>
            <a:r>
              <a:t>コードベースのルール処理とAIを組み合わせることで</a:t>
            </a:r>
            <a:br/>
            <a:r>
              <a:t>精度・安定性・コストすべてが改善できる理由を解説します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 AIだけで抽出する場合の課題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DC2626"/>
                </a:solidFill>
              </a:defRPr>
            </a:pPr>
            <a:r>
              <a:t>AIだけの場合に起きる5つの問題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DC2626"/>
                </a:solidFill>
              </a:defRPr>
            </a:pPr>
            <a:r>
              <a:t>1. 抜け漏れ（見落とし）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同じPDFでも、実行するたびに抽出される項目が変わることがある</a:t>
            </a:r>
          </a:p>
          <a:p>
            <a:pPr>
              <a:spcAft>
                <a:spcPts val="400"/>
              </a:spcAft>
              <a:defRPr sz="6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DC2626"/>
                </a:solidFill>
              </a:defRPr>
            </a:pPr>
            <a:r>
              <a:t>2. ばらつき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「アレルギー」を拾えたり拾えなかったり、結果が不安定</a:t>
            </a:r>
          </a:p>
          <a:p>
            <a:pPr>
              <a:spcAft>
                <a:spcPts val="400"/>
              </a:spcAft>
              <a:defRPr sz="6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DC2626"/>
                </a:solidFill>
              </a:defRPr>
            </a:pPr>
            <a:r>
              <a:t>3. コスト高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大量のPDFテキストをすべてAIに送ると、API利用料がかさむ</a:t>
            </a:r>
          </a:p>
          <a:p>
            <a:pPr>
              <a:spcAft>
                <a:spcPts val="400"/>
              </a:spcAft>
              <a:defRPr sz="6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DC2626"/>
                </a:solidFill>
              </a:defRPr>
            </a:pPr>
            <a:r>
              <a:t>4. 処理時間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AIの応答を待つため、1件あたり数十秒かかることも</a:t>
            </a:r>
          </a:p>
          <a:p>
            <a:pPr>
              <a:spcAft>
                <a:spcPts val="400"/>
              </a:spcAft>
              <a:defRPr sz="6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DC2626"/>
                </a:solidFill>
              </a:defRPr>
            </a:pPr>
            <a:r>
              <a:t>5. 原因究明が困難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なぜ抜け漏れが起きたか後から追跡しにくい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7C3AED"/>
                </a:solidFill>
              </a:defRPr>
            </a:pPr>
            <a:r>
              <a:t>たとえ話：書類チェックの場面で考えると…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0">
                <a:solidFill>
                  <a:srgbClr val="1A1A2E"/>
                </a:solidFill>
              </a:defRPr>
            </a:pPr>
            <a:r>
              <a:t>ベテラン社員に「この100枚の書類から</a:t>
            </a:r>
          </a:p>
          <a:p>
            <a:pPr>
              <a:spcAft>
                <a:spcPts val="400"/>
              </a:spcAft>
              <a:defRPr sz="2000" b="0">
                <a:solidFill>
                  <a:srgbClr val="1A1A2E"/>
                </a:solidFill>
              </a:defRPr>
            </a:pPr>
            <a:r>
              <a:t>重要な情報を全部拾って」と丸投げするようなもの。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0">
                <a:solidFill>
                  <a:srgbClr val="1A1A2E"/>
                </a:solidFill>
              </a:defRPr>
            </a:pPr>
            <a:r>
              <a:t>いくら優秀でも、</a:t>
            </a:r>
          </a:p>
          <a:p>
            <a:pPr>
              <a:spcAft>
                <a:spcPts val="400"/>
              </a:spcAft>
              <a:defRPr sz="2000" b="0">
                <a:solidFill>
                  <a:srgbClr val="1A1A2E"/>
                </a:solidFill>
              </a:defRPr>
            </a:pPr>
            <a:r>
              <a:t>チェックリストなしに100枚を読み通せば、</a:t>
            </a:r>
          </a:p>
          <a:p>
            <a:pPr>
              <a:spcAft>
                <a:spcPts val="400"/>
              </a:spcAft>
              <a:defRPr sz="2000" b="0">
                <a:solidFill>
                  <a:srgbClr val="1A1A2E"/>
                </a:solidFill>
              </a:defRPr>
            </a:pPr>
            <a:r>
              <a:t>当然見落としが出ます。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400" b="1">
                <a:solidFill>
                  <a:srgbClr val="DC2626"/>
                </a:solidFill>
              </a:defRPr>
            </a:pPr>
            <a:r>
              <a:t>毎回同じ精度は期待できません。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 「ルール → AI」の2段構成とは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fnl-builder の2ステップ抽出フロー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280160"/>
            <a:ext cx="73152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PDF / CSV ファイル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ルーミングリスト・乗客名簿・メッセージリスト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21031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697480"/>
            <a:ext cx="7315200" cy="822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第1段階：ルールベース抽出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キーワード照合・正規表現パターン・テンプレート構造解析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5204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114800"/>
            <a:ext cx="731520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第2段階：AI による補完抽出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ルールで取りこぼした情報をAIが文脈で拾う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937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B7280"/>
                </a:solidFill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532120"/>
            <a:ext cx="7315200" cy="8229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最終出力（Excel）</a:t>
            </a:r>
          </a:p>
          <a:p>
            <a:pPr algn="ctr">
              <a:defRPr sz="1100">
                <a:solidFill>
                  <a:srgbClr val="E0E0E0"/>
                </a:solidFill>
              </a:defRPr>
            </a:pPr>
            <a:r>
              <a:t>ルール抽出 ＋ AI抽出 を統合した完成リスト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たとえ話：2段構成＝チェックリスト＋ベテラン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6A34A"/>
                </a:solidFill>
              </a:defRPr>
            </a:pPr>
            <a:r>
              <a:t>第1段階（ルール）= 定型チェックリストで機械的にチェック</a:t>
            </a:r>
          </a:p>
          <a:p>
            <a:pPr>
              <a:spcAft>
                <a:spcPts val="400"/>
              </a:spcAft>
              <a:defRPr sz="6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1A1A2E"/>
                </a:solidFill>
              </a:defRPr>
            </a:pPr>
            <a:r>
              <a:t>「アレルギー」「車椅子」「VIP」などの決まったキーワードが</a:t>
            </a:r>
          </a:p>
          <a:p>
            <a:pPr>
              <a:spcAft>
                <a:spcPts val="400"/>
              </a:spcAft>
              <a:defRPr sz="1600" b="0">
                <a:solidFill>
                  <a:srgbClr val="1A1A2E"/>
                </a:solidFill>
              </a:defRPr>
            </a:pPr>
            <a:r>
              <a:t>書かれていれば 100%確実に拾う。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7C3AED"/>
                </a:solidFill>
              </a:defRPr>
            </a:pPr>
            <a:r>
              <a:t>第2段階（AI）= チェックリストにない『行間』をベテランが補足</a:t>
            </a:r>
          </a:p>
          <a:p>
            <a:pPr>
              <a:spcAft>
                <a:spcPts val="400"/>
              </a:spcAft>
              <a:defRPr sz="6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1A1A2E"/>
                </a:solidFill>
              </a:defRPr>
            </a:pPr>
            <a:r>
              <a:t>「足が不自由なので低層階希望」のように、</a:t>
            </a:r>
          </a:p>
          <a:p>
            <a:pPr>
              <a:spcAft>
                <a:spcPts val="400"/>
              </a:spcAft>
              <a:defRPr sz="1600" b="0">
                <a:solidFill>
                  <a:srgbClr val="1A1A2E"/>
                </a:solidFill>
              </a:defRPr>
            </a:pPr>
            <a:r>
              <a:t>キーワードには当てはまらないが意味的に重要な情報をAIが拾う。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3. ルールとAIの役割分担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それぞれが担当する処理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A34A"/>
                </a:solidFill>
              </a:defRPr>
            </a:pPr>
            <a:r>
              <a:t>第1段階：ルールベース抽出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問い合わせ番号の特定（決まった形式を自動認識）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30以上の重要キーワードを一瞬でチェック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- アレルギー、ベジタリアン、ハラール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- 糖尿病、ペースメーカー、車椅子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- 禁煙、低層階、エレベーター近く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- VIP、苦情、重要顧客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不要情報の除外（保険、社内メモ、経理）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テキスト整形（PDF特有の崩れを修復）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7C3AED"/>
                </a:solidFill>
              </a:defRPr>
            </a:pPr>
            <a:r>
              <a:t>第2段階：AI補完抽出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文脈の理解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「足が悪い」→ 移動介助が必要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曖昧な表現の解釈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「前回ご不満があった」→ VIP・要注意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抜け漏れページの再チェック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1回目で未抽出のページだけ再スキャン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カテゴリ分類</a:t>
            </a:r>
          </a:p>
          <a:p>
            <a:pPr>
              <a:spcAft>
                <a:spcPts val="300"/>
              </a:spcAft>
              <a:defRPr sz="1400">
                <a:solidFill>
                  <a:srgbClr val="1A1A2E"/>
                </a:solidFill>
              </a:defRPr>
            </a:pPr>
            <a:r>
              <a:t>    「医療」「食事」「移動」に自動分類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具体例で見る役割分担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6A34A"/>
                </a:solidFill>
              </a:defRPr>
            </a:pPr>
            <a:r>
              <a:t>【ルールで拾える】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原文: 「甲殻類アレルギーのため食事配慮希望」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→ 「アレルギー」というキーワードに一致 → 確実に抽出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7C3AED"/>
                </a:solidFill>
              </a:defRPr>
            </a:pPr>
            <a:r>
              <a:t>【AIで拾う】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原文: 「母の足が最近弱くなり長距離歩行は避けたい」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→ キーワード該当なし → 文脈から「移動介助」と判断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DC2626"/>
                </a:solidFill>
              </a:defRPr>
            </a:pPr>
            <a:r>
              <a:t>【ルールで除外】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原文: 「旅行保険加入済み（証券番号: TI-2024-XXXX）」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→ 保険・経理情報は自動フィルタで除外 → AIに渡さない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7C3AED"/>
                </a:solidFill>
              </a:defRPr>
            </a:pPr>
            <a:r>
              <a:t>【AIで拾う】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原文: 「結婚25周年の記念旅行とのこと」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→ 「記念日」カテゴリとして特別対応の情報に分類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4. 「AIのみ」と「ルール＋AI」の比較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8項目で比較：AIのみ vs ルール＋AI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比較項目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AIのみ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ルール＋AI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定型キーワードの抽出精度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90%前後（見落としあり）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100%（ルールで確実に拾う）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結果の安定性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実行ごとにバラつく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ルール部分は毎回同じ結果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全体の抽出率（推定）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70〜85%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90%以上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処理速度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全文AI処理 → 遅い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ルール部分は一瞬 → 全体高速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API利用コスト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全文送信 → 高い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補完分だけ送信 → 低い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不要情報の混入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AIが誤って拾うことがある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ルールで事前に除外済み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原因追跡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AIの判断で不透明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ルール=明確 / AI=根拠付き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ルール追加の容易さ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プロンプト書換え（副作用リスク）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キーワード1行追加で済む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5. 数字で見る効果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100件の重要情報を処理した場合（イメージ）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DC2626"/>
                </a:solidFill>
              </a:defRPr>
            </a:pPr>
            <a:r>
              <a:t>AIのみで抽出できる件数</a:t>
            </a:r>
          </a:p>
          <a:p>
            <a:pPr>
              <a:spcAft>
                <a:spcPts val="400"/>
              </a:spcAft>
              <a:defRPr sz="2200" b="1">
                <a:solidFill>
                  <a:srgbClr val="DC2626"/>
                </a:solidFill>
              </a:defRPr>
            </a:pPr>
            <a:r>
              <a:t>   70〜85件（15〜30件の漏れ）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ルールだけで確実に抽出できる件数</a:t>
            </a:r>
          </a:p>
          <a:p>
            <a:pPr>
              <a:spcAft>
                <a:spcPts val="400"/>
              </a:spcAft>
              <a:defRPr sz="2200" b="1">
                <a:solidFill>
                  <a:srgbClr val="2563EB"/>
                </a:solidFill>
              </a:defRPr>
            </a:pPr>
            <a:r>
              <a:t>   75件（定型キーワード一致分）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6A34A"/>
                </a:solidFill>
              </a:defRPr>
            </a:pPr>
            <a:r>
              <a:t>ルール＋AIで抽出できる件数</a:t>
            </a:r>
          </a:p>
          <a:p>
            <a:pPr>
              <a:spcAft>
                <a:spcPts val="400"/>
              </a:spcAft>
              <a:defRPr sz="2200" b="1">
                <a:solidFill>
                  <a:srgbClr val="16A34A"/>
                </a:solidFill>
              </a:defRPr>
            </a:pPr>
            <a:r>
              <a:t>   90件以上（漏れが10件以下に）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A1A2E"/>
                </a:solidFill>
              </a:defRPr>
            </a:pPr>
            <a:r>
              <a:t>ポイント: 75件分のルール結果は毎回100%同じ → 安定性が格段に向上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6. なぜルールを「先に」入れるべきなのか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5つの理由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1. 確実に拾えるものは、確実な方法で拾う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キーワード一致で100%確実に、一瞬で抽出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2. AIの負担を減らすことで精度が上がる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情報量が少なくなると残りに集中でき、判断精度が逆に上がる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3. 不要な情報をAIに見せない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保険情報や社内メモを事前除外→AIの誤判断リスクをなくす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4. コスト削減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ルールで先に処理した分はAPIを使わない→コストが下がる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5. 問題発生時に原因を特定しやすい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ルール部分は一目瞭然、AI部分も根拠テキスト付き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7. 実際のシステムではどう動いているか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4ステップの処理フロー（コード知識不要）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ステップ1：ファイルを読み込む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PDF/CSV からテキストを取り出す。CSVは文字コードを自動判定。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6A34A"/>
                </a:solidFill>
              </a:defRPr>
            </a:pPr>
            <a:r>
              <a:t>ステップ2：ルールベース抽出（ここで7〜8割が確定）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30以上のキーワード照合 → 除外パターン適用 → テキスト整形</a:t>
            </a:r>
          </a:p>
          <a:p>
            <a:pPr>
              <a:spcAft>
                <a:spcPts val="400"/>
              </a:spcAft>
              <a:defRPr sz="1500" b="1">
                <a:solidFill>
                  <a:srgbClr val="16A34A"/>
                </a:solidFill>
              </a:defRPr>
            </a:pPr>
            <a:r>
              <a:t>   処理時間は数百ミリ秒（1秒未満）。AIは一切使わない。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7C3AED"/>
                </a:solidFill>
              </a:defRPr>
            </a:pPr>
            <a:r>
              <a:t>ステップ3：AI補完抽出（行間を読む）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整形・フィルタ済みのテキストをAIに渡す → 文脈で拾う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未抽出ページだけ2回目の再スキャンを実施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EA580C"/>
                </a:solidFill>
              </a:defRPr>
            </a:pPr>
            <a:r>
              <a:t>ステップ4：統合 → 最終出力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ルール結果（土台）＋ AI結果（追加）→ 重複排除 → Excel出力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8. 自社AIプロジェクトへの適用提案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段階的な導入ステップ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Step 1: 頻出キーワードのリストアップ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過去の抽出結果を分析し、毎回拾うべき「決まったキーワード」をリスト化</a:t>
            </a:r>
          </a:p>
          <a:p>
            <a:pPr>
              <a:spcAft>
                <a:spcPts val="400"/>
              </a:spcAft>
              <a:defRPr sz="1400" b="0">
                <a:solidFill>
                  <a:srgbClr val="6B7280"/>
                </a:solidFill>
              </a:defRPr>
            </a:pPr>
            <a:r>
              <a:t>   例：アレルギー、車椅子、VIP、禁煙、記念日 など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Step 2: 除外パターンの定義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AIに渡す必要がない情報（経理、保険、社内メモ）のパターンを定義</a:t>
            </a:r>
          </a:p>
          <a:p>
            <a:pPr>
              <a:spcAft>
                <a:spcPts val="400"/>
              </a:spcAft>
              <a:defRPr sz="1400" b="0">
                <a:solidFill>
                  <a:srgbClr val="16A34A"/>
                </a:solidFill>
              </a:defRPr>
            </a:pPr>
            <a:r>
              <a:t>   これだけでもAIの精度は向上する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Step 3: ルール抽出 → AI補完の2段パイプラインを構築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ルールで拾えたものは「確定情報」→ AIに「残りの見落としを確認」と依頼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2563EB"/>
                </a:solidFill>
              </a:defRPr>
            </a:pPr>
            <a:r>
              <a:t>Step 4: キーワードの継続的追加</a:t>
            </a:r>
          </a:p>
          <a:p>
            <a:pPr>
              <a:spcAft>
                <a:spcPts val="400"/>
              </a:spcAft>
              <a:defRPr sz="1500" b="0">
                <a:solidFill>
                  <a:srgbClr val="1A1A2E"/>
                </a:solidFill>
              </a:defRPr>
            </a:pPr>
            <a:r>
              <a:t>   AIが新たに拾った頻出情報をルールに昇格 → 網羅率が徐々に向上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7C3AED"/>
                </a:solidFill>
              </a:defRPr>
            </a:pPr>
            <a:r>
              <a:t>たとえ話：業務マニュアルの改善サイクル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0">
                <a:solidFill>
                  <a:srgbClr val="1A1A2E"/>
                </a:solidFill>
              </a:defRPr>
            </a:pPr>
            <a:r>
              <a:t>最初は「気づいたら報告」（＝ AIだけ）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400" b="0">
                <a:solidFill>
                  <a:srgbClr val="6B7280"/>
                </a:solidFill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0">
                <a:solidFill>
                  <a:srgbClr val="1A1A2E"/>
                </a:solidFill>
              </a:defRPr>
            </a:pPr>
            <a:r>
              <a:t>よくある事例をマニュアル化（＝ ルール化）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400" b="0">
                <a:solidFill>
                  <a:srgbClr val="6B7280"/>
                </a:solidFill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0">
                <a:solidFill>
                  <a:srgbClr val="1A1A2E"/>
                </a:solidFill>
              </a:defRPr>
            </a:pPr>
            <a:r>
              <a:t>マニュアルに載ってない例外だけ上司判断（＝ AI）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400" b="0">
                <a:solidFill>
                  <a:srgbClr val="6B7280"/>
                </a:solidFill>
              </a:defRPr>
            </a:pPr>
            <a:r>
              <a:t>↓</a:t>
            </a:r>
          </a:p>
          <a:p>
            <a:pPr>
              <a:spcAft>
                <a:spcPts val="400"/>
              </a:spcAft>
              <a:defRPr sz="10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000" b="0">
                <a:solidFill>
                  <a:srgbClr val="1A1A2E"/>
                </a:solidFill>
              </a:defRPr>
            </a:pPr>
            <a:r>
              <a:t>例外が繰り返されたらマニュアルに追加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2400" b="1">
                <a:solidFill>
                  <a:srgbClr val="7C3AED"/>
                </a:solidFill>
              </a:defRPr>
            </a:pPr>
            <a:r>
              <a:t>これが「ルール＋AI」の改善サイクルです。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FF"/>
                </a:solidFill>
              </a:defRPr>
            </a:pPr>
            <a:r>
              <a:t>1. AIだけに頼ると、抜け漏れ・バラつき・コスト高が同時に起きる</a:t>
            </a:r>
            <a:br/>
            <a:r>
              <a:t>2. ルールベースの前処理で「確実に拾えるもの」は100%確実に拾える</a:t>
            </a:r>
            <a:br/>
            <a:r>
              <a:t>3. AIは「ルールで拾えなかった部分」だけに集中 → 精度UP・コストDOWN</a:t>
            </a:r>
            <a:br/>
            <a:r>
              <a:t>4. ルール＋AIで抽出率を 70-85% → 90%以上に改善可能</a:t>
            </a:r>
            <a:br/>
            <a:r>
              <a:t>5. 導入は段階的に可能：キーワードリスト作成から始められる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よくある質問（FAQ）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7899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424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Q. ルールの作成にはプログラミングの知識が必要？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   → ルールの設計（キーワード選定）に知識は不要。コード反映は1行追加で済む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Q. AIを使わず、ルールだけではダメ？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   → 7〜8割はカバーできるが、文脈依存の情報（残り2〜3割）はAIが必要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Q. 導入コストはどれくらい？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   → 既存AI処理の「前」にルール追加する形。ランニングコストはむしろ下がる</a:t>
            </a:r>
          </a:p>
          <a:p>
            <a:pPr>
              <a:spcAft>
                <a:spcPts val="400"/>
              </a:spcAft>
              <a:defRPr sz="800" b="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2563EB"/>
                </a:solidFill>
              </a:defRPr>
            </a:pPr>
            <a:r>
              <a:t>Q. 新しいキーワードが出てきたらどうする？</a:t>
            </a:r>
          </a:p>
          <a:p>
            <a:pPr>
              <a:spcAft>
                <a:spcPts val="400"/>
              </a:spcAft>
              <a:defRPr sz="1400" b="0">
                <a:solidFill>
                  <a:srgbClr val="1A1A2E"/>
                </a:solidFill>
              </a:defRPr>
            </a:pPr>
            <a:r>
              <a:t>   → AIが新たに拾った頻出情報をルールに追加。使うほどシステムが賢くなる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